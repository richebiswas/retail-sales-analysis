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Superstore Retail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Business Performance Review &amp; Management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 data-driven review of sales performance across products, customers, regions and time.</a:t>
            </a:r>
          </a:p>
          <a:p>
            <a:pPr>
              <a:spcAft>
                <a:spcPts val="1200"/>
              </a:spcAft>
              <a:defRPr sz="2100"/>
            </a:pPr>
            <a:r>
              <a:t>Focus: identify meaningful patterns, concentration risks, seasonal signals and areas for further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Superstore Retail Sales Analysis | Business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What the analysis tells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46888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₹2.30M</a:t>
            </a:r>
          </a:p>
          <a:p>
            <a:pPr algn="ctr">
              <a:defRPr sz="1100"/>
            </a:pPr>
            <a:r>
              <a:t>Total Sales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463040"/>
            <a:ext cx="246888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5,009</a:t>
            </a:r>
          </a:p>
          <a:p>
            <a:pPr algn="ctr">
              <a:defRPr sz="1100"/>
            </a:pPr>
            <a:r>
              <a:t>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463040"/>
            <a:ext cx="246888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793</a:t>
            </a:r>
          </a:p>
          <a:p>
            <a:pPr algn="ctr">
              <a:defRPr sz="1100"/>
            </a:pPr>
            <a:r>
              <a:t>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463040"/>
            <a:ext cx="246888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/>
            </a:pPr>
            <a:r>
              <a:t>₹459</a:t>
            </a:r>
          </a:p>
          <a:p>
            <a:pPr algn="ctr">
              <a:defRPr sz="1100"/>
            </a:pPr>
            <a:r>
              <a:t>Average Order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Technology is the strongest category by sales.</a:t>
            </a:r>
          </a:p>
          <a:p>
            <a:pPr>
              <a:spcAft>
                <a:spcPts val="1200"/>
              </a:spcAft>
              <a:defRPr sz="1600"/>
            </a:pPr>
            <a:r>
              <a:t>West is the strongest region; South is the lowest-performing region.</a:t>
            </a:r>
          </a:p>
          <a:p>
            <a:pPr>
              <a:spcAft>
                <a:spcPts val="1200"/>
              </a:spcAft>
              <a:defRPr sz="1600"/>
            </a:pPr>
            <a:r>
              <a:t>Sales show clear monthly seasonality, with November among the strongest months.</a:t>
            </a:r>
          </a:p>
          <a:p>
            <a:pPr>
              <a:spcAft>
                <a:spcPts val="1200"/>
              </a:spcAft>
              <a:defRPr sz="1600"/>
            </a:pPr>
            <a:r>
              <a:t>Revenue is distributed across a broad customer and product base rather than being dominated by a very small group.</a:t>
            </a:r>
          </a:p>
          <a:p>
            <a:pPr>
              <a:spcAft>
                <a:spcPts val="1200"/>
              </a:spcAft>
              <a:defRPr sz="1600"/>
            </a:pPr>
            <a:r>
              <a:t>The analysis identifies an unusually strong November 2018 observation that should be investigated before being treated as a repeatable trend.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Superstore Retail Sales Analysis | Business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Sales Performance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Sales increased materially over the analysis period.</a:t>
            </a:r>
          </a:p>
          <a:p>
            <a:pPr>
              <a:spcAft>
                <a:spcPts val="1200"/>
              </a:spcAft>
              <a:defRPr sz="2000"/>
            </a:pPr>
            <a:r>
              <a:t>2018 represents the strongest annual sales level in the dataset.</a:t>
            </a:r>
          </a:p>
          <a:p>
            <a:pPr>
              <a:spcAft>
                <a:spcPts val="1200"/>
              </a:spcAft>
              <a:defRPr sz="2000"/>
            </a:pPr>
            <a:r>
              <a:t>The trend supports continued investigation into which categories, regions and products drove the increase.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Superstore Retail Sales Analysis | Business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Category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Technology contributes the largest share of total sales.</a:t>
            </a:r>
          </a:p>
          <a:p>
            <a:pPr>
              <a:spcAft>
                <a:spcPts val="1200"/>
              </a:spcAft>
              <a:defRPr sz="1800"/>
            </a:pPr>
            <a:r>
              <a:t>Furniture and Office Supplies follow Technology in overall sales contribution.</a:t>
            </a:r>
          </a:p>
          <a:p>
            <a:pPr>
              <a:spcAft>
                <a:spcPts val="1200"/>
              </a:spcAft>
              <a:defRPr sz="1800"/>
            </a:pPr>
            <a:r>
              <a:t>Technology also leads across the regional category comparison, indicating that its strength is not isolated to one geography.</a:t>
            </a:r>
          </a:p>
          <a:p>
            <a:pPr>
              <a:spcAft>
                <a:spcPts val="1200"/>
              </a:spcAft>
              <a:defRPr sz="1800"/>
            </a:pPr>
            <a:r>
              <a:t>Management implication: monitor Technology availability, assortment and demand while identifying opportunities to strengthen lower-performing categories.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Superstore Retail Sales Analysis | Business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Regional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West generates the highest regional sales.</a:t>
            </a:r>
          </a:p>
          <a:p>
            <a:pPr>
              <a:spcAft>
                <a:spcPts val="1200"/>
              </a:spcAft>
              <a:defRPr sz="1800"/>
            </a:pPr>
            <a:r>
              <a:t>South generates the lowest regional sales at approximately 17.2% of total sales.</a:t>
            </a:r>
          </a:p>
          <a:p>
            <a:pPr>
              <a:spcAft>
                <a:spcPts val="1200"/>
              </a:spcAft>
              <a:defRPr sz="1800"/>
            </a:pPr>
            <a:r>
              <a:t>The regional gap is a signal for further investigation rather than a conclusion about the cause.</a:t>
            </a:r>
          </a:p>
          <a:p>
            <a:pPr>
              <a:spcAft>
                <a:spcPts val="1200"/>
              </a:spcAft>
              <a:defRPr sz="1800"/>
            </a:pPr>
            <a:r>
              <a:t>Next analysis: compare customer mix, product mix, order volume and category performance between South and higher-performing regions.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Superstore Retail Sales Analysis | Business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Customer &amp; Product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The top 10 customers contribute approximately 6.8% of total sales.</a:t>
            </a:r>
          </a:p>
          <a:p>
            <a:pPr>
              <a:spcAft>
                <a:spcPts val="1200"/>
              </a:spcAft>
              <a:defRPr sz="1700"/>
            </a:pPr>
            <a:r>
              <a:t>Approximately 168 customers are required to reach 50% of cumulative sales.</a:t>
            </a:r>
          </a:p>
          <a:p>
            <a:pPr>
              <a:spcAft>
                <a:spcPts val="1200"/>
              </a:spcAft>
              <a:defRPr sz="1700"/>
            </a:pPr>
            <a:r>
              <a:t>The top 10 products contribute approximately 10.8% of total sales.</a:t>
            </a:r>
          </a:p>
          <a:p>
            <a:pPr>
              <a:spcAft>
                <a:spcPts val="1200"/>
              </a:spcAft>
              <a:defRPr sz="1700"/>
            </a:pPr>
            <a:r>
              <a:t>The results indicate that revenue is distributed across many customers and products rather than depending entirely on a small group.</a:t>
            </a:r>
          </a:p>
          <a:p>
            <a:pPr>
              <a:spcAft>
                <a:spcPts val="1200"/>
              </a:spcAft>
              <a:defRPr sz="1700"/>
            </a:pPr>
            <a:r>
              <a:t>This provides a useful baseline for future customer-retention and product-portfolio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Superstore Retail Sales Analysis | Business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Seasonality &amp; Planning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November has the highest average monthly sales across the analyzed years.</a:t>
            </a:r>
          </a:p>
          <a:p>
            <a:pPr>
              <a:spcAft>
                <a:spcPts val="1200"/>
              </a:spcAft>
              <a:defRPr sz="1900"/>
            </a:pPr>
            <a:r>
              <a:t>February is among the weakest months.</a:t>
            </a:r>
          </a:p>
          <a:p>
            <a:pPr>
              <a:spcAft>
                <a:spcPts val="1200"/>
              </a:spcAft>
              <a:defRPr sz="1900"/>
            </a:pPr>
            <a:r>
              <a:t>The recurring monthly pattern suggests that planning should account for seasonal demand variation.</a:t>
            </a:r>
          </a:p>
          <a:p>
            <a:pPr>
              <a:spcAft>
                <a:spcPts val="1200"/>
              </a:spcAft>
              <a:defRPr sz="1900"/>
            </a:pPr>
            <a:r>
              <a:t>Potential business use: align inventory, campaigns and operational capacity with historically stronger and weaker periods.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Superstore Retail Sales Analysis | Business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Anomaly to Investigate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November 2018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November 2018 recorded an unusually strong sales level relative to the surrounding observations.</a:t>
            </a:r>
          </a:p>
          <a:p>
            <a:pPr>
              <a:spcAft>
                <a:spcPts val="1200"/>
              </a:spcAft>
              <a:defRPr sz="1700"/>
            </a:pPr>
            <a:r>
              <a:t>The finding should be treated as an investigation point rather than automatically interpreted as a permanent growth trend.</a:t>
            </a:r>
          </a:p>
          <a:p>
            <a:pPr>
              <a:spcAft>
                <a:spcPts val="1200"/>
              </a:spcAft>
              <a:defRPr sz="1700"/>
            </a:pPr>
            <a:r>
              <a:t>Recommended drill-down:</a:t>
            </a:r>
          </a:p>
          <a:p>
            <a:pPr>
              <a:spcAft>
                <a:spcPts val="1200"/>
              </a:spcAft>
              <a:defRPr sz="1700"/>
            </a:pPr>
            <a:r>
              <a:t>• Break the spike down by category, region and product.</a:t>
            </a:r>
          </a:p>
          <a:p>
            <a:pPr>
              <a:spcAft>
                <a:spcPts val="1200"/>
              </a:spcAft>
              <a:defRPr sz="1700"/>
            </a:pPr>
            <a:r>
              <a:t>• Identify whether a small number of orders or products drove the increase.</a:t>
            </a:r>
          </a:p>
          <a:p>
            <a:pPr>
              <a:spcAft>
                <a:spcPts val="1200"/>
              </a:spcAft>
              <a:defRPr sz="1700"/>
            </a:pPr>
            <a:r>
              <a:t>• Check whether similar spikes occurred in other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Superstore Retail Sales Analysis | Business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Management Implications &amp; Next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1. Protect the strongest category — continue monitoring Technology demand and availability.</a:t>
            </a:r>
          </a:p>
          <a:p>
            <a:pPr>
              <a:spcAft>
                <a:spcPts val="1200"/>
              </a:spcAft>
              <a:defRPr sz="1700"/>
            </a:pPr>
            <a:r>
              <a:t>2. Investigate the South region — compare assortment, customers, order volume and execution with stronger regions.</a:t>
            </a:r>
          </a:p>
          <a:p>
            <a:pPr>
              <a:spcAft>
                <a:spcPts val="1200"/>
              </a:spcAft>
              <a:defRPr sz="1700"/>
            </a:pPr>
            <a:r>
              <a:t>3. Plan around seasonality — use historical monthly patterns to support inventory and campaign planning.</a:t>
            </a:r>
          </a:p>
          <a:p>
            <a:pPr>
              <a:spcAft>
                <a:spcPts val="1200"/>
              </a:spcAft>
              <a:defRPr sz="1700"/>
            </a:pPr>
            <a:r>
              <a:t>4. Validate the November 2018 anomaly — determine whether the spike was repeatable, event-driven or concentrated in specific products/customers.</a:t>
            </a:r>
          </a:p>
          <a:p>
            <a:pPr>
              <a:spcAft>
                <a:spcPts val="1200"/>
              </a:spcAft>
              <a:defRPr sz="1700"/>
            </a:pPr>
            <a:r>
              <a:t>5. Extend the analysis — use deeper customer, product and regional drill-downs to identify the drivers behind the observed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Superstore Retail Sales Analysis | Business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Analyst Workflow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Data validation and structure</a:t>
            </a:r>
          </a:p>
          <a:p>
            <a:pPr>
              <a:spcAft>
                <a:spcPts val="1200"/>
              </a:spcAft>
              <a:defRPr sz="1600"/>
            </a:pPr>
            <a:r>
              <a:t>Sales, order and customer metrics</a:t>
            </a:r>
          </a:p>
          <a:p>
            <a:pPr>
              <a:spcAft>
                <a:spcPts val="1200"/>
              </a:spcAft>
              <a:defRPr sz="1600"/>
            </a:pPr>
            <a:r>
              <a:t>Category, sub-category and product analysis</a:t>
            </a:r>
          </a:p>
          <a:p>
            <a:pPr>
              <a:spcAft>
                <a:spcPts val="1200"/>
              </a:spcAft>
              <a:defRPr sz="1600"/>
            </a:pPr>
            <a:r>
              <a:t>Customer concentration and segmentation</a:t>
            </a:r>
          </a:p>
          <a:p>
            <a:pPr>
              <a:spcAft>
                <a:spcPts val="1200"/>
              </a:spcAft>
              <a:defRPr sz="1600"/>
            </a:pPr>
            <a:r>
              <a:t>Regional and state analysis</a:t>
            </a:r>
          </a:p>
          <a:p>
            <a:pPr>
              <a:spcAft>
                <a:spcPts val="1200"/>
              </a:spcAft>
              <a:defRPr sz="1600"/>
            </a:pPr>
            <a:r>
              <a:t>Time-series and seasonality analysis</a:t>
            </a:r>
          </a:p>
          <a:p>
            <a:pPr>
              <a:spcAft>
                <a:spcPts val="1200"/>
              </a:spcAft>
              <a:defRPr sz="1600"/>
            </a:pPr>
            <a:r>
              <a:t>Multi-dimensional analysis</a:t>
            </a:r>
          </a:p>
          <a:p>
            <a:pPr>
              <a:spcAft>
                <a:spcPts val="1200"/>
              </a:spcAft>
              <a:defRPr sz="1600"/>
            </a:pPr>
            <a:r>
              <a:t>Business findings and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2588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Dataset: 9,800 records × 18 fields</a:t>
            </a:r>
          </a:p>
          <a:p>
            <a:pPr>
              <a:spcAft>
                <a:spcPts val="1200"/>
              </a:spcAft>
              <a:defRPr sz="1600"/>
            </a:pPr>
            <a:r>
              <a:t>Analysis period: 2015–2018</a:t>
            </a:r>
          </a:p>
          <a:p>
            <a:pPr>
              <a:spcAft>
                <a:spcPts val="1200"/>
              </a:spcAft>
              <a:defRPr sz="1600"/>
            </a:pPr>
            <a:r>
              <a:t>Primary measure: Sales</a:t>
            </a:r>
          </a:p>
          <a:p>
            <a:pPr>
              <a:spcAft>
                <a:spcPts val="1200"/>
              </a:spcAft>
              <a:defRPr sz="1600"/>
            </a:pPr>
            <a:r>
              <a:t>Tools: Python, Pandas, NumPy, Matplotlib</a:t>
            </a:r>
          </a:p>
          <a:p>
            <a:pPr>
              <a:spcAft>
                <a:spcPts val="1200"/>
              </a:spcAft>
              <a:defRPr sz="1600"/>
            </a:pPr>
            <a:r>
              <a:t>Analysis type: descriptive / exploratory</a:t>
            </a:r>
          </a:p>
          <a:p>
            <a:pPr>
              <a:spcAft>
                <a:spcPts val="1200"/>
              </a:spcAft>
              <a:defRPr sz="1600"/>
            </a:pPr>
            <a:r>
              <a:t>No forecasting, regression, clustering or predictive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Superstore Retail Sales Analysis | Business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Key Business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Technology is the strongest revenue category.</a:t>
            </a:r>
          </a:p>
          <a:p>
            <a:pPr>
              <a:spcAft>
                <a:spcPts val="1200"/>
              </a:spcAft>
              <a:defRPr sz="2000"/>
            </a:pPr>
            <a:r>
              <a:t>West is the strongest region while South is the weakest-performing region.</a:t>
            </a:r>
          </a:p>
          <a:p>
            <a:pPr>
              <a:spcAft>
                <a:spcPts val="1200"/>
              </a:spcAft>
              <a:defRPr sz="2000"/>
            </a:pPr>
            <a:r>
              <a:t>Customer revenue is relatively distributed rather than dominated by a small number of customers.</a:t>
            </a:r>
          </a:p>
          <a:p>
            <a:pPr>
              <a:spcAft>
                <a:spcPts val="1200"/>
              </a:spcAft>
              <a:defRPr sz="2000"/>
            </a:pPr>
            <a:r>
              <a:t>Category demand and total sales show meaningful time-based patterns.</a:t>
            </a:r>
          </a:p>
          <a:p>
            <a:pPr>
              <a:spcAft>
                <a:spcPts val="1200"/>
              </a:spcAft>
              <a:defRPr sz="2000"/>
            </a:pPr>
            <a:r>
              <a:t>November 2018 stands out as an unusually strong observation requiring further investigation.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Superstore Retail Sales Analysis | Business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Closing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The analysis converts 9,800 retail records into a structured view of sales, customers, products, regions and time.</a:t>
            </a:r>
          </a:p>
          <a:p>
            <a:pPr>
              <a:spcAft>
                <a:spcPts val="1200"/>
              </a:spcAft>
              <a:defRPr sz="1900"/>
            </a:pPr>
            <a:r>
              <a:t>The strongest signals are category leadership, regional differences, customer/product concentration and seasonality.</a:t>
            </a:r>
          </a:p>
          <a:p>
            <a:pPr>
              <a:spcAft>
                <a:spcPts val="1200"/>
              </a:spcAft>
              <a:defRPr sz="1900"/>
            </a:pPr>
            <a:r>
              <a:t>The next step is not simply more charts: it is deeper drill-down into the drivers behind these patterns.</a:t>
            </a:r>
          </a:p>
          <a:p>
            <a:pPr>
              <a:spcAft>
                <a:spcPts val="1200"/>
              </a:spcAft>
              <a:defRPr sz="1900"/>
            </a:pPr>
            <a:r>
              <a:t>The resulting analysis can support management discussions around regional opportunities, seasonal planning, portfolio focus and further investigation.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Superstore Retail Sales Analysis | Business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